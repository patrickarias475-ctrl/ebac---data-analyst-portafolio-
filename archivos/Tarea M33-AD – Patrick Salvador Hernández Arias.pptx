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SLIDES_API187563075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SLIDES_API187563075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SLIDES_API187563075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SLIDES_API187563075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SLIDES_API187563075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SLIDES_API187563075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SLIDES_API187563075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SLIDES_API187563075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SLIDES_API1875630753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SLIDES_API1875630753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SLIDES_API1875630753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SLIDES_API1875630753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419"/>
              <a:t>Evolución Histórica de los Géneros Líderes</a:t>
            </a:r>
            <a:endParaRPr/>
          </a:p>
        </p:txBody>
      </p:sp>
      <p:sp>
        <p:nvSpPr>
          <p:cNvPr id="61" name="Google Shape;61;p1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 Históricamente, el mercado ha sido dominado por los géneros de Acción y Deportes. El gráfico muestra una alta volatilidad, con picos de ventas globales que coinciden con los lanzamientos de nuevas generaciones de consolas, estabilizándose hacia 2016.</a:t>
            </a:r>
            <a:endParaRPr/>
          </a:p>
          <a:p>
            <a:pPr indent="0" lvl="0" marL="0" rtl="0" algn="l">
              <a:spcBef>
                <a:spcPts val="1200"/>
              </a:spcBef>
              <a:spcAft>
                <a:spcPts val="1200"/>
              </a:spcAft>
              <a:buNone/>
            </a:pPr>
            <a:r>
              <a:t/>
            </a:r>
            <a:endParaRPr/>
          </a:p>
        </p:txBody>
      </p:sp>
      <p:pic>
        <p:nvPicPr>
          <p:cNvPr id="62" name="Google Shape;62;p14" title="grafico_1_historico_generos.png"/>
          <p:cNvPicPr preferRelativeResize="0"/>
          <p:nvPr/>
        </p:nvPicPr>
        <p:blipFill>
          <a:blip r:embed="rId3">
            <a:alphaModFix/>
          </a:blip>
          <a:stretch>
            <a:fillRect/>
          </a:stretch>
        </p:blipFill>
        <p:spPr>
          <a:xfrm>
            <a:off x="1028725" y="-73687"/>
            <a:ext cx="9144003" cy="50006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Transición Generacional de Consolas</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419"/>
              <a:t>El análisis del periodo 2013-2016 revela una clara migración de usuarios. La plataforma PS4 registró el mayor crecimiento neto global, canibalizando directamente el mercado de su predecesora, la PS3, que sufrió el mayor declive de ventas.</a:t>
            </a:r>
            <a:endParaRPr/>
          </a:p>
        </p:txBody>
      </p:sp>
      <p:pic>
        <p:nvPicPr>
          <p:cNvPr id="69" name="Google Shape;69;p15" title="grafico_2_crecimiento_plataformas.png"/>
          <p:cNvPicPr preferRelativeResize="0"/>
          <p:nvPr/>
        </p:nvPicPr>
        <p:blipFill>
          <a:blip r:embed="rId3">
            <a:alphaModFix/>
          </a:blip>
          <a:stretch>
            <a:fillRect/>
          </a:stretch>
        </p:blipFill>
        <p:spPr>
          <a:xfrm>
            <a:off x="0" y="93762"/>
            <a:ext cx="9144003" cy="495597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Sorprendente Auge del Género Puzzle</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rPr>
              <a:t>Contrario a la tendencia histórica, en los últimos 4 años analizados, el género </a:t>
            </a:r>
            <a:r>
              <a:rPr i="1" lang="es-419" sz="1100">
                <a:solidFill>
                  <a:schemeClr val="dk1"/>
                </a:solidFill>
              </a:rPr>
              <a:t>Puzzle</a:t>
            </a:r>
            <a:r>
              <a:rPr lang="es-419" sz="1100">
                <a:solidFill>
                  <a:schemeClr val="dk1"/>
                </a:solidFill>
              </a:rPr>
              <a:t> mostró el mayor crecimiento relativo. Por otro lado, la categoría tradicional de Acción experimentó el mayor estancamiento, sugiriendo una saturación o cambio en preferencias.</a:t>
            </a:r>
            <a:endParaRPr sz="1100">
              <a:solidFill>
                <a:schemeClr val="dk1"/>
              </a:solidFill>
            </a:endParaRPr>
          </a:p>
          <a:p>
            <a:pPr indent="0" lvl="0" marL="0" rtl="0" algn="l">
              <a:spcBef>
                <a:spcPts val="1200"/>
              </a:spcBef>
              <a:spcAft>
                <a:spcPts val="1200"/>
              </a:spcAft>
              <a:buNone/>
            </a:pPr>
            <a:r>
              <a:t/>
            </a:r>
            <a:endParaRPr sz="1100">
              <a:solidFill>
                <a:schemeClr val="dk1"/>
              </a:solidFill>
            </a:endParaRPr>
          </a:p>
        </p:txBody>
      </p:sp>
      <p:pic>
        <p:nvPicPr>
          <p:cNvPr id="76" name="Google Shape;76;p16" title="grafico_1_historico_generos.png"/>
          <p:cNvPicPr preferRelativeResize="0"/>
          <p:nvPr/>
        </p:nvPicPr>
        <p:blipFill>
          <a:blip r:embed="rId3">
            <a:alphaModFix/>
          </a:blip>
          <a:stretch>
            <a:fillRect/>
          </a:stretch>
        </p:blipFill>
        <p:spPr>
          <a:xfrm>
            <a:off x="0" y="71438"/>
            <a:ext cx="9144003" cy="50006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Nicho Estratégico en el Mercado Japonés</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419" sz="1100">
                <a:solidFill>
                  <a:schemeClr val="dk1"/>
                </a:solidFill>
              </a:rPr>
              <a:t>Japón representa una oportunidad de mercado altamente concentrada y rentable. Más del 36% de las ventas globales de los géneros </a:t>
            </a:r>
            <a:r>
              <a:rPr i="1" lang="es-419" sz="1100">
                <a:solidFill>
                  <a:schemeClr val="dk1"/>
                </a:solidFill>
              </a:rPr>
              <a:t>Puzzle</a:t>
            </a:r>
            <a:r>
              <a:rPr lang="es-419" sz="1100">
                <a:solidFill>
                  <a:schemeClr val="dk1"/>
                </a:solidFill>
              </a:rPr>
              <a:t> y </a:t>
            </a:r>
            <a:r>
              <a:rPr i="1" lang="es-419" sz="1100">
                <a:solidFill>
                  <a:schemeClr val="dk1"/>
                </a:solidFill>
              </a:rPr>
              <a:t>Role-Playing</a:t>
            </a:r>
            <a:r>
              <a:rPr lang="es-419" sz="1100">
                <a:solidFill>
                  <a:schemeClr val="dk1"/>
                </a:solidFill>
              </a:rPr>
              <a:t> (RPG) provienen exclusivamente de este país, lo que lo vuelve vital para estos títulos.</a:t>
            </a:r>
            <a:endParaRPr/>
          </a:p>
        </p:txBody>
      </p:sp>
      <p:pic>
        <p:nvPicPr>
          <p:cNvPr id="83" name="Google Shape;83;p17" title="grafico_3_oportunidad_japon.png"/>
          <p:cNvPicPr preferRelativeResize="0"/>
          <p:nvPr/>
        </p:nvPicPr>
        <p:blipFill>
          <a:blip r:embed="rId3">
            <a:alphaModFix/>
          </a:blip>
          <a:stretch>
            <a:fillRect/>
          </a:stretch>
        </p:blipFill>
        <p:spPr>
          <a:xfrm>
            <a:off x="590939" y="0"/>
            <a:ext cx="7962122"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PS4: Líder en Ventas Promedio por Juego</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419"/>
              <a:t>Para maximizar el retorno de inversión, el desarrollo debe priorizar la PS4. Esta plataforma garantiza la mejor rentabilidad potencial, promediando 0.83 millones de copias vendidas globalmente por cada título lanzado en el periodo analizado.</a:t>
            </a:r>
            <a:endParaRPr/>
          </a:p>
        </p:txBody>
      </p:sp>
      <p:sp>
        <p:nvSpPr>
          <p:cNvPr id="90" name="Google Shape;90;p18"/>
          <p:cNvSpPr txBox="1"/>
          <p:nvPr/>
        </p:nvSpPr>
        <p:spPr>
          <a:xfrm>
            <a:off x="2611050" y="2722275"/>
            <a:ext cx="39219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400">
                <a:solidFill>
                  <a:schemeClr val="dk1"/>
                </a:solidFill>
                <a:highlight>
                  <a:srgbClr val="FFFFFF"/>
                </a:highlight>
                <a:latin typeface="Courier New"/>
                <a:ea typeface="Courier New"/>
                <a:cs typeface="Courier New"/>
                <a:sym typeface="Courier New"/>
              </a:rPr>
              <a:t>Platform</a:t>
            </a:r>
            <a:endParaRPr sz="24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s-419" sz="2400">
                <a:solidFill>
                  <a:schemeClr val="dk1"/>
                </a:solidFill>
                <a:highlight>
                  <a:srgbClr val="FFFFFF"/>
                </a:highlight>
                <a:latin typeface="Courier New"/>
                <a:ea typeface="Courier New"/>
                <a:cs typeface="Courier New"/>
                <a:sym typeface="Courier New"/>
              </a:rPr>
              <a:t>PS4    0.83</a:t>
            </a:r>
            <a:endParaRPr sz="24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s-419" sz="2400">
                <a:solidFill>
                  <a:schemeClr val="dk1"/>
                </a:solidFill>
                <a:highlight>
                  <a:srgbClr val="FFFFFF"/>
                </a:highlight>
                <a:latin typeface="Courier New"/>
                <a:ea typeface="Courier New"/>
                <a:cs typeface="Courier New"/>
                <a:sym typeface="Courier New"/>
              </a:rPr>
              <a:t>X360   0.74</a:t>
            </a:r>
            <a:endParaRPr sz="2400">
              <a:solidFill>
                <a:schemeClr val="dk1"/>
              </a:solidFill>
              <a:highlight>
                <a:srgbClr val="FFFFFF"/>
              </a:highlight>
              <a:latin typeface="Courier New"/>
              <a:ea typeface="Courier New"/>
              <a:cs typeface="Courier New"/>
              <a:sym typeface="Courier New"/>
            </a:endParaRPr>
          </a:p>
          <a:p>
            <a:pPr indent="0" lvl="0" marL="0" rtl="0" algn="l">
              <a:lnSpc>
                <a:spcPct val="130770"/>
              </a:lnSpc>
              <a:spcBef>
                <a:spcPts val="0"/>
              </a:spcBef>
              <a:spcAft>
                <a:spcPts val="0"/>
              </a:spcAft>
              <a:buNone/>
            </a:pPr>
            <a:r>
              <a:rPr lang="es-419" sz="2400">
                <a:solidFill>
                  <a:schemeClr val="dk1"/>
                </a:solidFill>
                <a:highlight>
                  <a:srgbClr val="FFFFFF"/>
                </a:highlight>
                <a:latin typeface="Courier New"/>
                <a:ea typeface="Courier New"/>
                <a:cs typeface="Courier New"/>
                <a:sym typeface="Courier New"/>
              </a:rPr>
              <a:t>Wii    0.70</a:t>
            </a:r>
            <a:endParaRPr sz="2400">
              <a:solidFill>
                <a:schemeClr val="dk1"/>
              </a:solidFill>
              <a:highlight>
                <a:srgbClr val="FFFFFF"/>
              </a:highlight>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Estrategia de Lanzamiento Recomendada</a:t>
            </a:r>
            <a:endParaRPr/>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419"/>
              <a:t>Para un éxito financiero global asegurado, el desarrollo debe enfocarse en la consola PS4. Sin embargo, para penetrar el mercado japonés de manera estratégica y aprovechar tendencias recientes de crecimiento, un título de Rol (RPG) o Puzzle es la apuesta más rentable.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